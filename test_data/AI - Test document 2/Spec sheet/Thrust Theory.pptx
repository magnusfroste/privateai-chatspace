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84" r:id="rId2"/>
    <p:sldId id="383" r:id="rId3"/>
    <p:sldId id="32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60" d="100"/>
          <a:sy n="60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4D0BECE-7326-4C58-AC15-C2F678F959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499" y="6356350"/>
            <a:ext cx="1161288" cy="2627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683126-F65B-40EA-8AD3-753DDE0FB1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8736" y="1122363"/>
            <a:ext cx="9854528" cy="2387600"/>
          </a:xfrm>
        </p:spPr>
        <p:txBody>
          <a:bodyPr anchor="b">
            <a:normAutofit/>
          </a:bodyPr>
          <a:lstStyle>
            <a:lvl1pPr algn="ctr">
              <a:lnSpc>
                <a:spcPts val="3500"/>
              </a:lnSpc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80242C-5979-4780-A3DA-383AC748D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736" y="3602038"/>
            <a:ext cx="985452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240F6-4B87-430B-B4E2-BB8AF4DC01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620B11-2CC6-403F-9B43-F3C052EABA53}" type="datetime1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DCC9B-84BA-472C-A5E8-0D9D5302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Marine Jet Power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D4E75-AC9E-4047-B7A1-3CEB4072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4914-3487-42CC-98F9-83A509D82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03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E2015-3EB6-4728-BCA1-09F4116190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lnSpc>
                <a:spcPts val="35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1DDA0-B93F-40CA-A98E-BF5231E1C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773E4-52F9-4257-B407-CCDADAA8A7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4D8BB0-F07A-49E3-84C3-FCEE25334801}" type="datetime1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ED12D-D671-48DF-8467-74174A6F9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Marine Jet Power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10242-0BDC-4615-B6A8-EBEAB1662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4914-3487-42CC-98F9-83A509D828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04820EA-3310-47C3-97DE-A6466EBC61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499" y="6356350"/>
            <a:ext cx="1161288" cy="26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871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1C8B0-CC47-45B1-9B78-4B77C1BCB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lnSpc>
                <a:spcPts val="35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E59BA-ED60-42F2-B28E-D85C6F56C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D1C21-AD7E-4570-8D60-89D1AB7E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AECE2CA-622D-4E4B-83E3-49699970BB9D}" type="datetime1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18BD0-57FD-48A4-9960-F7183BAA3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Marine Jet Power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37CA3-7063-48C1-A5E2-D8477E59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4914-3487-42CC-98F9-83A509D828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0AAB1F7-CB98-4416-BBC2-A1EB6ABAE4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499" y="6356350"/>
            <a:ext cx="1161288" cy="26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211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62AC9-E8E4-403A-A652-C7DA2783CE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35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96B9E-EF09-4D1A-B8AE-25C6E6023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E3780-67AE-4ED1-B16C-8795636BD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B459D-6E5E-4CB4-8F9C-F5D7ADE686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9AD860-C2DD-42FB-9ABC-2FD200B8D51F}" type="datetime1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0670F-6EC9-4A2F-81A1-629312996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Marine Jet Power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16EA1-EAA8-4E96-8D61-18D54AEC1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4914-3487-42CC-98F9-83A509D828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BD38BDE-E9C2-4FD6-9B48-DFC34757D5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499" y="6356350"/>
            <a:ext cx="1161288" cy="26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49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0F726-243E-47A5-9E15-A0B4CDFEC3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lnSpc>
                <a:spcPts val="35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524FD-EB9E-47A7-9447-BB78CCFB1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3183C8-9E9B-4417-A721-242C1CCF66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F19077-3C54-454C-88D3-C675329383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5E85CB-6154-4D38-B48B-C062AA75BD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806697-089F-4DD7-B345-D560868C14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EDAD9D-D7C2-44AA-A675-590B4EF68E8B}" type="datetime1">
              <a:rPr lang="en-US" smtClean="0"/>
              <a:t>4/6/2025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D24771-00B3-4FF5-9D6D-3FC8811E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Marine Jet Power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D04BA8-CBCB-442B-9CE4-57B4B754B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4914-3487-42CC-98F9-83A509D828A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1112937-FD84-480C-910D-03438EE8AD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499" y="6356350"/>
            <a:ext cx="1161288" cy="26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821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52C3F-5CE9-46F2-B658-4E9AA5A376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35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99F8AC-9806-4AFB-84FB-C50B956385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B2667E-073E-4FB2-8C21-4F32B324F072}" type="datetime1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59A81-0D53-4DEF-A4C7-6C7551E4F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Marine Jet Power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9BD933-99DF-4181-8826-B60137BA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4914-3487-42CC-98F9-83A509D828A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B00078A-B661-47F4-A908-071E8D425A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499" y="6356350"/>
            <a:ext cx="1161288" cy="26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492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CAA066-080F-4620-9692-64D75263F2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EEBE49-3216-42EF-AF29-1C469F2A0F64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1D3CA3-B8C1-46E2-866D-B10766B9A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Marine Jet Power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1AD86-8B10-4DEF-9E5C-1BA663A23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4914-3487-42CC-98F9-83A509D828A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BEB3840-1043-4041-962E-9ABB85F34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499" y="6356350"/>
            <a:ext cx="1161288" cy="26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646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4FAF6-7D90-4689-BA98-365D86575F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lnSpc>
                <a:spcPts val="3500"/>
              </a:lnSpc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86E43-C18B-4906-8841-467145C61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20576-A39D-4352-A1B3-F53066A49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15089-4622-4FC0-862E-3ABB9EDA8B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2819C9-CF15-456C-A59A-5C4F28EF9D5F}" type="datetime1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958C8-E69E-4C02-AF26-FD2564D2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Marine Jet Power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94E81-FBC9-441A-B427-D2E6BDBD5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4914-3487-42CC-98F9-83A509D828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17FE7F5-0D2B-4E28-A3E9-C02916E6BF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499" y="6356350"/>
            <a:ext cx="1161288" cy="26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053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BCFA4-7530-4D17-9643-BE09351CB7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lnSpc>
                <a:spcPts val="3500"/>
              </a:lnSpc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5780B7-180D-4398-8899-CFCDE12F10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63CD0-A209-418B-BE49-8D08D1370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35FDD-CA42-4CB4-A945-E80B55752C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DF0878-3928-482E-8307-0CDF4A9C0D76}" type="datetime1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CACD0-E6D4-4A7D-B970-1775BC56F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Marine Jet Power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E93CD-A3D8-4218-8E51-3F5156B2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4914-3487-42CC-98F9-83A509D828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E3A222F-A453-4EC0-AC9C-ECC07C9710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499" y="6356350"/>
            <a:ext cx="1161288" cy="26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064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gradFill flip="none" rotWithShape="1">
          <a:gsLst>
            <a:gs pos="76000">
              <a:srgbClr val="0F141E"/>
            </a:gs>
            <a:gs pos="0">
              <a:srgbClr val="033C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83126-F65B-40EA-8AD3-753DDE0FB1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8736" y="1122363"/>
            <a:ext cx="9854528" cy="2387600"/>
          </a:xfrm>
        </p:spPr>
        <p:txBody>
          <a:bodyPr anchor="b">
            <a:normAutofit/>
          </a:bodyPr>
          <a:lstStyle>
            <a:lvl1pPr algn="ctr">
              <a:lnSpc>
                <a:spcPts val="35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80242C-5979-4780-A3DA-383AC748D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736" y="3602038"/>
            <a:ext cx="9854528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240F6-4B87-430B-B4E2-BB8AF4DC01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AFE458-44CF-489E-96B3-7BC718930A3C}" type="datetime1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DCC9B-84BA-472C-A5E8-0D9D5302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Marine Jet Power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D4E75-AC9E-4047-B7A1-3CEB4072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4914-3487-42CC-98F9-83A509D828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E4E1280-DB6C-4950-BDC1-9F1B905C4A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177" y="6356350"/>
            <a:ext cx="1164610" cy="26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231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 flip="none" rotWithShape="1">
          <a:gsLst>
            <a:gs pos="76000">
              <a:srgbClr val="0F141E"/>
            </a:gs>
            <a:gs pos="0">
              <a:srgbClr val="033C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240F6-4B87-430B-B4E2-BB8AF4DC01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F8A93B-F5B0-48F8-B4B8-80374A5D5BB3}" type="datetime1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DCC9B-84BA-472C-A5E8-0D9D5302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Marine Jet Power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D4E75-AC9E-4047-B7A1-3CEB4072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4914-3487-42CC-98F9-83A509D828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A6F8662-032F-47A0-AF59-B4EDD79DDB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177" y="6356350"/>
            <a:ext cx="1164610" cy="26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7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4CCC05-A222-41DD-B093-57164797F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1123D-27E0-4A01-B290-0FCCCE9EE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51140-8351-4056-8397-10CF56E755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1C6A8-EF5C-4D57-B55C-AB8C854EA9A3}" type="datetime1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125AB-EBC0-4801-8B7D-68A26903B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Marine Jet Power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6123F-97CA-4522-A67D-B2F205C17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A4914-3487-42CC-98F9-83A509D828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888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4000" b="1" kern="1200" spc="-15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EF151C9-7F8A-4763-908C-44B0D462C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sv-SE" sz="4000" dirty="0" err="1">
                <a:solidFill>
                  <a:srgbClr val="FFFFFF"/>
                </a:solidFill>
              </a:rPr>
              <a:t>Thrust</a:t>
            </a:r>
            <a:r>
              <a:rPr lang="sv-SE" sz="4000" dirty="0">
                <a:solidFill>
                  <a:srgbClr val="FFFFFF"/>
                </a:solidFill>
              </a:rPr>
              <a:t> </a:t>
            </a:r>
            <a:r>
              <a:rPr lang="sv-SE" sz="4000" dirty="0" err="1">
                <a:solidFill>
                  <a:srgbClr val="FFFFFF"/>
                </a:solidFill>
              </a:rPr>
              <a:t>Theory</a:t>
            </a:r>
            <a:endParaRPr lang="sv-SE" sz="4000" dirty="0">
              <a:solidFill>
                <a:srgbClr val="FFFFFF"/>
              </a:solidFill>
            </a:endParaRP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63CDC277-E5DF-4149-BD46-B606C75E8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63A4914-3487-42CC-98F9-83A509D828A7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F141D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F141D">
                  <a:lumMod val="50000"/>
                  <a:lumOff val="5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2774E5DD-925D-49CF-B19C-2B5F8CE66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453" y="2561000"/>
            <a:ext cx="8986484" cy="4297000"/>
          </a:xfrm>
          <a:prstGeom prst="rect">
            <a:avLst/>
          </a:prstGeom>
        </p:spPr>
      </p:pic>
      <p:sp>
        <p:nvSpPr>
          <p:cNvPr id="8" name="textruta 7">
            <a:extLst>
              <a:ext uri="{FF2B5EF4-FFF2-40B4-BE49-F238E27FC236}">
                <a16:creationId xmlns:a16="http://schemas.microsoft.com/office/drawing/2014/main" id="{BEB6B60E-FADD-46C3-8ECB-8C04166574AE}"/>
              </a:ext>
            </a:extLst>
          </p:cNvPr>
          <p:cNvSpPr txBox="1"/>
          <p:nvPr/>
        </p:nvSpPr>
        <p:spPr>
          <a:xfrm>
            <a:off x="999060" y="1574310"/>
            <a:ext cx="99494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41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Thrust is created through accelerating water through the pump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41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And is related to Volume Flow Rate Q times Jet nozzle velocity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F141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F141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41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– Average intake velocity V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F141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41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Wake field factor, w, adds to efficiency through V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F141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41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= (1-w)  V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F141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41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where V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F141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41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is vessels speed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41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Wake factor, w, is related to waterline length </a:t>
            </a:r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45AB96B7-02DE-49D4-A27D-A67A1432AA87}"/>
              </a:ext>
            </a:extLst>
          </p:cNvPr>
          <p:cNvSpPr txBox="1"/>
          <p:nvPr/>
        </p:nvSpPr>
        <p:spPr>
          <a:xfrm>
            <a:off x="10049256" y="3843004"/>
            <a:ext cx="17984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F141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High flow, Q, rather than pressure creates a good thrust</a:t>
            </a:r>
          </a:p>
        </p:txBody>
      </p:sp>
    </p:spTree>
    <p:extLst>
      <p:ext uri="{BB962C8B-B14F-4D97-AF65-F5344CB8AC3E}">
        <p14:creationId xmlns:p14="http://schemas.microsoft.com/office/powerpoint/2010/main" val="309298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EF151C9-7F8A-4763-908C-44B0D462C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sv-SE" sz="4000" dirty="0" err="1">
                <a:solidFill>
                  <a:srgbClr val="FFFFFF"/>
                </a:solidFill>
              </a:rPr>
              <a:t>Thrust</a:t>
            </a:r>
            <a:r>
              <a:rPr lang="sv-SE" sz="4000" dirty="0">
                <a:solidFill>
                  <a:srgbClr val="FFFFFF"/>
                </a:solidFill>
              </a:rPr>
              <a:t> </a:t>
            </a:r>
            <a:r>
              <a:rPr lang="sv-SE" sz="4000" dirty="0" err="1">
                <a:solidFill>
                  <a:srgbClr val="FFFFFF"/>
                </a:solidFill>
              </a:rPr>
              <a:t>Theory</a:t>
            </a:r>
            <a:endParaRPr lang="sv-SE" sz="4000" dirty="0">
              <a:solidFill>
                <a:srgbClr val="FFFFFF"/>
              </a:solidFill>
            </a:endParaRP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63CDC277-E5DF-4149-BD46-B606C75E8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63A4914-3487-42CC-98F9-83A509D828A7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F141D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F141D">
                  <a:lumMod val="50000"/>
                  <a:lumOff val="5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A383998F-4C41-48A0-B4D1-BAA50F12F2FC}"/>
              </a:ext>
            </a:extLst>
          </p:cNvPr>
          <p:cNvSpPr txBox="1"/>
          <p:nvPr/>
        </p:nvSpPr>
        <p:spPr>
          <a:xfrm>
            <a:off x="432778" y="1977690"/>
            <a:ext cx="383834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706F"/>
                </a:solidFill>
                <a:effectLst/>
                <a:uLnTx/>
                <a:uFillTx/>
                <a:latin typeface="Eureka-Roman"/>
                <a:ea typeface="+mn-ea"/>
                <a:cs typeface="+mn-cs"/>
              </a:rPr>
              <a:t>As a precaution MJP calculates the so-called thrust deduction factor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706F"/>
                </a:solidFill>
                <a:effectLst/>
                <a:uLnTx/>
                <a:uFillTx/>
                <a:latin typeface="Eureka-Bold"/>
                <a:ea typeface="+mn-ea"/>
                <a:cs typeface="+mn-cs"/>
              </a:rPr>
              <a:t>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706F"/>
                </a:solidFill>
                <a:effectLst/>
                <a:uLnTx/>
                <a:uFillTx/>
                <a:latin typeface="Eureka-Roman"/>
                <a:ea typeface="+mn-ea"/>
                <a:cs typeface="+mn-cs"/>
              </a:rPr>
              <a:t>as zero.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706F"/>
                </a:solidFill>
                <a:effectLst/>
                <a:uLnTx/>
                <a:uFillTx/>
                <a:latin typeface="Eureka-Roman"/>
                <a:ea typeface="+mn-ea"/>
                <a:cs typeface="+mn-cs"/>
              </a:rPr>
              <a:t>The effect of thrust deduction (or negative thrust deduction factor) is hull related and cannot generally be accounted for.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0706F"/>
              </a:solidFill>
              <a:effectLst/>
              <a:uLnTx/>
              <a:uFillTx/>
              <a:latin typeface="Eureka-Roman"/>
              <a:ea typeface="+mn-ea"/>
              <a:cs typeface="+mn-cs"/>
            </a:endParaRPr>
          </a:p>
        </p:txBody>
      </p:sp>
      <p:pic>
        <p:nvPicPr>
          <p:cNvPr id="12" name="Bildobjekt 11">
            <a:extLst>
              <a:ext uri="{FF2B5EF4-FFF2-40B4-BE49-F238E27FC236}">
                <a16:creationId xmlns:a16="http://schemas.microsoft.com/office/drawing/2014/main" id="{D42F12E1-F8D1-4B79-AE0A-9CD769C13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900" y="1852574"/>
            <a:ext cx="7288465" cy="500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4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F4FD5-C2E8-4F08-AB79-C9091C85F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3A4914-3487-42CC-98F9-83A509D828A7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F141D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F141D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581705E6-695D-4773-84BA-570F997DB124}"/>
              </a:ext>
            </a:extLst>
          </p:cNvPr>
          <p:cNvSpPr txBox="1"/>
          <p:nvPr/>
        </p:nvSpPr>
        <p:spPr>
          <a:xfrm>
            <a:off x="758389" y="639588"/>
            <a:ext cx="6097656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Better Performance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“We believe that on performance MJP are the best in the market!  They actually deliver the promised speed”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John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Bonafoux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BMT Nigel Gee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“MJP is a victim of their own modesty and also bullshit from other OEMs on performance and efficiency”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Henk van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Herwijnen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General Manager,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CoCo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Yachts,</a:t>
            </a: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1A15798E-8FA4-43B5-9933-816500FF8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44146">
            <a:off x="9539934" y="1415326"/>
            <a:ext cx="2144447" cy="3034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ubrik 1">
            <a:extLst>
              <a:ext uri="{FF2B5EF4-FFF2-40B4-BE49-F238E27FC236}">
                <a16:creationId xmlns:a16="http://schemas.microsoft.com/office/drawing/2014/main" id="{3890AF2B-52E1-44EE-BD6E-FDEBA9CF5682}"/>
              </a:ext>
            </a:extLst>
          </p:cNvPr>
          <p:cNvSpPr txBox="1">
            <a:spLocks/>
          </p:cNvSpPr>
          <p:nvPr/>
        </p:nvSpPr>
        <p:spPr>
          <a:xfrm rot="20442641">
            <a:off x="6707398" y="862810"/>
            <a:ext cx="4667587" cy="664941"/>
          </a:xfrm>
          <a:prstGeom prst="rect">
            <a:avLst/>
          </a:prstGeom>
          <a:effectLst>
            <a:outerShdw blurRad="50800" dist="12700" dir="270000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EB5E8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Testimony – 10% measured difference measured and confirmed by DNV-GL</a:t>
            </a:r>
          </a:p>
        </p:txBody>
      </p:sp>
      <p:pic>
        <p:nvPicPr>
          <p:cNvPr id="12" name="Picture 4" descr="A ship in the water&#10;&#10;Description automatically generated with low confidence">
            <a:extLst>
              <a:ext uri="{FF2B5EF4-FFF2-40B4-BE49-F238E27FC236}">
                <a16:creationId xmlns:a16="http://schemas.microsoft.com/office/drawing/2014/main" id="{30042411-7230-433D-8920-2F4CA5844E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3" b="5323"/>
          <a:stretch/>
        </p:blipFill>
        <p:spPr>
          <a:xfrm>
            <a:off x="931685" y="3112851"/>
            <a:ext cx="4891444" cy="27430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72EBEFD-3A8E-4613-8E3B-E981FFF6E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283" y="3797030"/>
            <a:ext cx="4778633" cy="2058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617216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MJP">
      <a:dk1>
        <a:srgbClr val="0F141D"/>
      </a:dk1>
      <a:lt1>
        <a:sysClr val="window" lastClr="FFFFFF"/>
      </a:lt1>
      <a:dk2>
        <a:srgbClr val="083C53"/>
      </a:dk2>
      <a:lt2>
        <a:srgbClr val="D8D8D8"/>
      </a:lt2>
      <a:accent1>
        <a:srgbClr val="04A6E1"/>
      </a:accent1>
      <a:accent2>
        <a:srgbClr val="AFBF40"/>
      </a:accent2>
      <a:accent3>
        <a:srgbClr val="313A45"/>
      </a:accent3>
      <a:accent4>
        <a:srgbClr val="88898D"/>
      </a:accent4>
      <a:accent5>
        <a:srgbClr val="04A6E1"/>
      </a:accent5>
      <a:accent6>
        <a:srgbClr val="083C53"/>
      </a:accent6>
      <a:hlink>
        <a:srgbClr val="04A6E1"/>
      </a:hlink>
      <a:folHlink>
        <a:srgbClr val="027CA8"/>
      </a:folHlink>
    </a:clrScheme>
    <a:fontScheme name="MJP Fonts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183</Words>
  <Application>Microsoft Office PowerPoint</Application>
  <PresentationFormat>Widescreen</PresentationFormat>
  <Paragraphs>20</Paragraphs>
  <Slides>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Black</vt:lpstr>
      <vt:lpstr>Eureka-Bold</vt:lpstr>
      <vt:lpstr>Eureka-Roman</vt:lpstr>
      <vt:lpstr>1_Office Theme</vt:lpstr>
      <vt:lpstr>Thrust Theory</vt:lpstr>
      <vt:lpstr>Thrust Theory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Niklas Widemark</dc:creator>
  <cp:lastModifiedBy>Niklas Widemark</cp:lastModifiedBy>
  <cp:revision>3</cp:revision>
  <dcterms:created xsi:type="dcterms:W3CDTF">2024-09-23T06:08:25Z</dcterms:created>
  <dcterms:modified xsi:type="dcterms:W3CDTF">2025-04-06T18:41:04Z</dcterms:modified>
</cp:coreProperties>
</file>